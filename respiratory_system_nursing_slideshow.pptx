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-640080"/>
            <a:ext cx="4754880" cy="3108960"/>
          </a:xfrm>
          <a:prstGeom prst="ellipse">
            <a:avLst/>
          </a:prstGeom>
          <a:solidFill>
            <a:srgbClr val="1E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48640"/>
            <a:ext cx="6583680" cy="5577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5303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0324A"/>
                </a:solidFill>
                <a:latin typeface="Avenir Next"/>
              </a:rPr>
              <a:t>Respiratory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78308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6F7A"/>
                </a:solidFill>
                <a:latin typeface="Avenir Next"/>
              </a:rPr>
              <a:t>College Nursing Level
Structure, physiology, assessment, and priority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52628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8313E"/>
                </a:solidFill>
                <a:latin typeface="Avenir Next"/>
              </a:rPr>
              <a:t>Prepared for classroom presentation and study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5074920"/>
            <a:ext cx="2788920" cy="640080"/>
          </a:xfrm>
          <a:prstGeom prst="roundRect">
            <a:avLst/>
          </a:prstGeom>
          <a:solidFill>
            <a:srgbClr val="E9F4F3"/>
          </a:solidFill>
          <a:ln w="19050">
            <a:solidFill>
              <a:srgbClr val="D9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5257800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324A"/>
                </a:solidFill>
                <a:latin typeface="Avenir Next"/>
              </a:rPr>
              <a:t>Focus: oxygenation, ventilation, and clinical nursing judgment</a:t>
            </a:r>
          </a:p>
        </p:txBody>
      </p:sp>
      <p:pic>
        <p:nvPicPr>
          <p:cNvPr id="9" name="Picture 8" descr="lung_anatom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60120"/>
            <a:ext cx="3840480" cy="4247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324A"/>
                </a:solidFill>
                <a:latin typeface="Avenir Next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6F7A"/>
                </a:solidFill>
                <a:latin typeface="Avenir Next"/>
              </a:rPr>
              <a:t>What nursing students should understand by the end of the slideshow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200">
                <a:solidFill>
                  <a:srgbClr val="18313E"/>
                </a:solidFill>
                <a:latin typeface="Avenir Next"/>
              </a:defRPr>
            </a:pPr>
            <a:r>
              <a:t>Identify the major structures of the upper and lower respiratory tract.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>
                <a:solidFill>
                  <a:srgbClr val="18313E"/>
                </a:solidFill>
                <a:latin typeface="Avenir Next"/>
              </a:defRPr>
            </a:pPr>
            <a:r>
              <a:t>Explain how ventilation, perfusion, and diffusion support gas exchange.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>
                <a:solidFill>
                  <a:srgbClr val="18313E"/>
                </a:solidFill>
                <a:latin typeface="Avenir Next"/>
              </a:defRPr>
            </a:pPr>
            <a:r>
              <a:t>Connect pulse oximetry, ABGs, and physical assessment to patient status.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>
                <a:solidFill>
                  <a:srgbClr val="18313E"/>
                </a:solidFill>
                <a:latin typeface="Avenir Next"/>
              </a:defRPr>
            </a:pPr>
            <a:r>
              <a:t>Apply nursing priorities to common respiratory disorders and acute decline.</a:t>
            </a:r>
          </a:p>
        </p:txBody>
      </p:sp>
      <p:pic>
        <p:nvPicPr>
          <p:cNvPr id="6" name="Picture 5" descr="assessm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50292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324A"/>
                </a:solidFill>
                <a:latin typeface="Avenir Next"/>
              </a:rPr>
              <a:t>Core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6F7A"/>
                </a:solidFill>
                <a:latin typeface="Avenir Next"/>
              </a:rPr>
              <a:t>Key structures that support filtration, conduction, and gas exchange</a:t>
            </a:r>
          </a:p>
        </p:txBody>
      </p:sp>
      <p:pic>
        <p:nvPicPr>
          <p:cNvPr id="4" name="Picture 3" descr="lung_anatom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3840480" cy="424757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54880" y="1554480"/>
            <a:ext cx="66751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18313E"/>
                </a:solidFill>
                <a:latin typeface="Avenir Next"/>
              </a:defRPr>
            </a:pPr>
            <a:r>
              <a:t>Upper airway includes the nose, sinuses, pharynx, and larynx, which warm and humidify air.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18313E"/>
                </a:solidFill>
                <a:latin typeface="Avenir Next"/>
              </a:defRPr>
            </a:pPr>
            <a:r>
              <a:t>Lower airway includes the trachea, bronchi, bronchioles, and alveoli.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18313E"/>
                </a:solidFill>
                <a:latin typeface="Avenir Next"/>
              </a:defRPr>
            </a:pPr>
            <a:r>
              <a:t>The right lung has 3 lobes; the left lung has 2 lobes and a cardiac notch.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>
                <a:solidFill>
                  <a:srgbClr val="18313E"/>
                </a:solidFill>
                <a:latin typeface="Avenir Next"/>
              </a:defRPr>
            </a:pPr>
            <a:r>
              <a:t>Pleura and negative intrathoracic pressure help keep the lungs expanded.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5074920"/>
            <a:ext cx="3337560" cy="713232"/>
          </a:xfrm>
          <a:prstGeom prst="roundRect">
            <a:avLst/>
          </a:prstGeom>
          <a:solidFill>
            <a:srgbClr val="10324A"/>
          </a:solidFill>
          <a:ln w="19050">
            <a:solidFill>
              <a:srgbClr val="1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85232" y="5294376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venir Next"/>
              </a:rPr>
              <a:t>Clinical cue: alveoli are the primary gas-exchange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324A"/>
                </a:solidFill>
                <a:latin typeface="Avenir Next"/>
              </a:rPr>
              <a:t>Ventilation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6F7A"/>
                </a:solidFill>
                <a:latin typeface="Avenir Next"/>
              </a:rPr>
              <a:t>How pressure changes move air in and out of the lungs</a:t>
            </a:r>
          </a:p>
        </p:txBody>
      </p:sp>
      <p:pic>
        <p:nvPicPr>
          <p:cNvPr id="4" name="Picture 3" descr="ventilation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324A"/>
                </a:solidFill>
                <a:latin typeface="Avenir Next"/>
              </a:rPr>
              <a:t>Gas Exchange and Transport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6F7A"/>
                </a:solidFill>
                <a:latin typeface="Avenir Next"/>
              </a:rPr>
              <a:t>Oxygenation depends on alveoli, perfusion, and hemoglobin delivery</a:t>
            </a:r>
          </a:p>
        </p:txBody>
      </p:sp>
      <p:pic>
        <p:nvPicPr>
          <p:cNvPr id="4" name="Picture 3" descr="alveo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3840480" cy="3817900"/>
          </a:xfrm>
          <a:prstGeom prst="rect">
            <a:avLst/>
          </a:prstGeom>
        </p:spPr>
      </p:pic>
      <p:pic>
        <p:nvPicPr>
          <p:cNvPr id="5" name="Picture 4" descr="gas_exchang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50876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324A"/>
                </a:solidFill>
                <a:latin typeface="Avenir Next"/>
              </a:rPr>
              <a:t>V/Q Match and Control of Breathing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6F7A"/>
                </a:solidFill>
                <a:latin typeface="Avenir Next"/>
              </a:rPr>
              <a:t>Major concepts behind hypoxemia and respiratory drive</a:t>
            </a:r>
          </a:p>
        </p:txBody>
      </p:sp>
      <p:pic>
        <p:nvPicPr>
          <p:cNvPr id="4" name="Picture 3" descr="vq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324A"/>
                </a:solidFill>
                <a:latin typeface="Avenir Next"/>
              </a:rPr>
              <a:t>Respiratory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6F7A"/>
                </a:solidFill>
                <a:latin typeface="Avenir Next"/>
              </a:rPr>
              <a:t>Bedside data that often signal trouble before lab values return</a:t>
            </a:r>
          </a:p>
        </p:txBody>
      </p:sp>
      <p:pic>
        <p:nvPicPr>
          <p:cNvPr id="4" name="Picture 3" descr="assessm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4480"/>
            <a:ext cx="7498079" cy="421766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58200" y="1664208"/>
            <a:ext cx="30175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9202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324A"/>
                </a:solidFill>
                <a:latin typeface="Avenir Next"/>
              </a:rPr>
              <a:t>Red Flags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242316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18313E"/>
                </a:solidFill>
                <a:latin typeface="Avenir Next"/>
              </a:defRPr>
            </a:pPr>
            <a:r>
              <a:t>Increasing accessory muscle use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18313E"/>
                </a:solidFill>
                <a:latin typeface="Avenir Next"/>
              </a:defRPr>
            </a:pPr>
            <a:r>
              <a:t>Silent chest or diminished air entry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18313E"/>
                </a:solidFill>
                <a:latin typeface="Avenir Next"/>
              </a:defRPr>
            </a:pPr>
            <a:r>
              <a:t>Confusion, agitation, or lethargy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18313E"/>
                </a:solidFill>
                <a:latin typeface="Avenir Next"/>
              </a:defRPr>
            </a:pPr>
            <a:r>
              <a:t>Cyanosis or rapidly falling SpO₂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324A"/>
                </a:solidFill>
                <a:latin typeface="Avenir Next"/>
              </a:rPr>
              <a:t>Pulse Oximetry and ABGs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6F7A"/>
                </a:solidFill>
                <a:latin typeface="Avenir Next"/>
              </a:rPr>
              <a:t>Use trends and patient appearance, not just single numbers</a:t>
            </a:r>
          </a:p>
        </p:txBody>
      </p:sp>
      <p:pic>
        <p:nvPicPr>
          <p:cNvPr id="4" name="Picture 3" descr="abg_quickl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324A"/>
                </a:solidFill>
                <a:latin typeface="Avenir Next"/>
              </a:rPr>
              <a:t>Common Respiratory Disorders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6F7A"/>
                </a:solidFill>
                <a:latin typeface="Avenir Next"/>
              </a:rPr>
              <a:t>High-yield conditions frequently encountered in nursing 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3520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828800"/>
            <a:ext cx="1600200" cy="502920"/>
          </a:xfrm>
          <a:prstGeom prst="roundRect">
            <a:avLst/>
          </a:prstGeom>
          <a:solidFill>
            <a:srgbClr val="1E6F7A"/>
          </a:solidFill>
          <a:ln w="19050">
            <a:solidFill>
              <a:srgbClr val="1E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196596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venir Next"/>
              </a:rPr>
              <a:t>Asthma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057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8313E"/>
                </a:solidFill>
                <a:latin typeface="Avenir Next"/>
              </a:rPr>
              <a:t>Reversible airway inflammation and bronchoconstriction with wheeze and cough.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45920"/>
            <a:ext cx="2468880" cy="3520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76472" y="1828800"/>
            <a:ext cx="1600200" cy="502920"/>
          </a:xfrm>
          <a:prstGeom prst="roundRect">
            <a:avLst/>
          </a:prstGeom>
          <a:solidFill>
            <a:srgbClr val="5CC8C6"/>
          </a:solidFill>
          <a:ln w="19050">
            <a:solidFill>
              <a:srgbClr val="5CC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22776" y="196596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venir Next"/>
              </a:rPr>
              <a:t>COPD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560320"/>
            <a:ext cx="2057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8313E"/>
                </a:solidFill>
                <a:latin typeface="Avenir Next"/>
              </a:rPr>
              <a:t>Chronic airflow limitation, hyperinflation, and frequent exacerbations.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2468880" cy="3520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56831" y="1828800"/>
            <a:ext cx="1600200" cy="502920"/>
          </a:xfrm>
          <a:prstGeom prst="roundRect">
            <a:avLst/>
          </a:prstGeom>
          <a:solidFill>
            <a:srgbClr val="E8B04B"/>
          </a:solidFill>
          <a:ln w="19050">
            <a:solidFill>
              <a:srgbClr val="E8B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03136" y="196596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venir Next"/>
              </a:rPr>
              <a:t>Pneumonia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60320"/>
            <a:ext cx="2057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8313E"/>
                </a:solidFill>
                <a:latin typeface="Avenir Next"/>
              </a:rPr>
              <a:t>Infection with inflammation, consolidation, and impaired oxygen diffusion.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645920"/>
            <a:ext cx="2468880" cy="3520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37192" y="1828800"/>
            <a:ext cx="1600200" cy="502920"/>
          </a:xfrm>
          <a:prstGeom prst="roundRect">
            <a:avLst/>
          </a:prstGeom>
          <a:solidFill>
            <a:srgbClr val="D86C61"/>
          </a:solidFill>
          <a:ln w="19050">
            <a:solidFill>
              <a:srgbClr val="D86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83496" y="196596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venir Next"/>
              </a:rPr>
              <a:t>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560320"/>
            <a:ext cx="2057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8313E"/>
                </a:solidFill>
                <a:latin typeface="Avenir Next"/>
              </a:rPr>
              <a:t>Severe inflammatory lung injury with refractory hypoxemia and low compliance.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5778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0324A"/>
                </a:solidFill>
                <a:latin typeface="Avenir Next"/>
              </a:rPr>
              <a:t>Nursing priority across disorders: recognize worsening oxygenation early and escalate promptly.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324A"/>
                </a:solidFill>
                <a:latin typeface="Avenir Next"/>
              </a:rPr>
              <a:t>Oxygen Therapy and Priority Interventions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6F7A"/>
                </a:solidFill>
                <a:latin typeface="Avenir Next"/>
              </a:rPr>
              <a:t>Match the treatment device to the severity of respiratory compromise</a:t>
            </a:r>
          </a:p>
        </p:txBody>
      </p:sp>
      <p:pic>
        <p:nvPicPr>
          <p:cNvPr id="4" name="Picture 3" descr="oxygen_therap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377440" cy="3351058"/>
          </a:xfrm>
          <a:prstGeom prst="rect">
            <a:avLst/>
          </a:prstGeom>
        </p:spPr>
      </p:pic>
      <p:pic>
        <p:nvPicPr>
          <p:cNvPr id="5" name="Picture 4" descr="oxygen_de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508760"/>
            <a:ext cx="7863840" cy="44234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434840"/>
            <a:ext cx="2377440" cy="1188720"/>
          </a:xfrm>
          <a:prstGeom prst="roundRect">
            <a:avLst/>
          </a:prstGeom>
          <a:solidFill>
            <a:srgbClr val="10324A"/>
          </a:solidFill>
          <a:ln w="19050">
            <a:solidFill>
              <a:srgbClr val="10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venir Next"/>
              </a:rPr>
              <a:t>Safety: lowest effective FiO₂, humidify when needed, and follow oxygen fire precautions.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324A"/>
                </a:solidFill>
                <a:latin typeface="Avenir Next"/>
              </a:rPr>
              <a:t>Clinical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6F7A"/>
                </a:solidFill>
                <a:latin typeface="Avenir Next"/>
              </a:rPr>
              <a:t>From patient cues to action: what the nurse does first</a:t>
            </a:r>
          </a:p>
        </p:txBody>
      </p:sp>
      <p:pic>
        <p:nvPicPr>
          <p:cNvPr id="4" name="Picture 3" descr="clinical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36192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venir Next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100">
                <a:solidFill>
                  <a:srgbClr val="FFFFFF"/>
                </a:solidFill>
                <a:latin typeface="Avenir Next"/>
              </a:defRPr>
            </a:pPr>
            <a:r>
              <a:t>Effective respiration requires a patent airway, adequate ventilation, intact diffusion, and perfusion.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100">
                <a:solidFill>
                  <a:srgbClr val="FFFFFF"/>
                </a:solidFill>
                <a:latin typeface="Avenir Next"/>
              </a:defRPr>
            </a:pPr>
            <a:r>
              <a:t>Respiratory assessment findings often reveal deterioration before tests confirm it.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100">
                <a:solidFill>
                  <a:srgbClr val="FFFFFF"/>
                </a:solidFill>
                <a:latin typeface="Avenir Next"/>
              </a:defRPr>
            </a:pPr>
            <a:r>
              <a:t>Pulse oximetry, ABGs, and mental-status changes should always be interpreted together.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100">
                <a:solidFill>
                  <a:srgbClr val="FFFFFF"/>
                </a:solidFill>
                <a:latin typeface="Avenir Next"/>
              </a:defRPr>
            </a:pPr>
            <a:r>
              <a:t>Fast nursing interventions can prevent respiratory failure and improve outcomes.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005840"/>
            <a:ext cx="4800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3258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324A"/>
                </a:solidFill>
                <a:latin typeface="Avenir Next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82880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8313E"/>
                </a:solidFill>
                <a:latin typeface="Avenir Next"/>
              </a:defRPr>
            </a:pPr>
            <a:r>
              <a:t>Hinkle &amp; Cheever. Brunner &amp; Suddarth's Textbook of Medical-Surgical Nursing.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8313E"/>
                </a:solidFill>
                <a:latin typeface="Avenir Next"/>
              </a:defRPr>
            </a:pPr>
            <a:r>
              <a:t>Lewis et al. Medical-Surgical Nursing: Assessment and Management of Clinical Problems.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8313E"/>
                </a:solidFill>
                <a:latin typeface="Avenir Next"/>
              </a:defRPr>
            </a:pPr>
            <a:r>
              <a:t>American Association for Respiratory Care clinical resources.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18313E"/>
                </a:solidFill>
                <a:latin typeface="Avenir Next"/>
              </a:defRPr>
            </a:pPr>
            <a:r>
              <a:t>National Heart, Lung, and Blood Institute education materials.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9F2F0"/>
                </a:solidFill>
                <a:latin typeface="Avenir Next"/>
              </a:rPr>
              <a:t>Designed for a college nursing audience with visual review aids for speaking or studying.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